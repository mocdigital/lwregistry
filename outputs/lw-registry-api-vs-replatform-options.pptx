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0367c6641541d7" /><Relationship Type="http://schemas.openxmlformats.org/officeDocument/2006/relationships/extended-properties" Target="/docProps/app.xml" Id="Re58009057dd54c46" /><Relationship Type="http://schemas.openxmlformats.org/officeDocument/2006/relationships/officeDocument" Target="/ppt/presentation.xml" Id="R48372cfa3a0f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a874b6fe44aa6"/>
  </p:sldMasterIdLst>
  <p:notesMasterIdLst>
    <p:notesMasterId xmlns:r="http://schemas.openxmlformats.org/officeDocument/2006/relationships" r:id="Rc2318bb9a5c342fd"/>
  </p:notesMasterIdLst>
  <p:sldIdLst>
    <p:sldId xmlns:r="http://schemas.openxmlformats.org/officeDocument/2006/relationships" id="256" r:id="R7f3ca3d001094d88"/>
    <p:sldId xmlns:r="http://schemas.openxmlformats.org/officeDocument/2006/relationships" id="257" r:id="Rb9290e284e374005"/>
    <p:sldId xmlns:r="http://schemas.openxmlformats.org/officeDocument/2006/relationships" id="258" r:id="R2a493d0b548243c5"/>
    <p:sldId xmlns:r="http://schemas.openxmlformats.org/officeDocument/2006/relationships" id="259" r:id="Rdf7f3d04d32a4c87"/>
    <p:sldId xmlns:r="http://schemas.openxmlformats.org/officeDocument/2006/relationships" id="260" r:id="R1a49c2d48cf045a9"/>
    <p:sldId xmlns:r="http://schemas.openxmlformats.org/officeDocument/2006/relationships" id="261" r:id="R7032cb7b42484a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13fbd58fc44cb1" /><Relationship Type="http://schemas.openxmlformats.org/officeDocument/2006/relationships/slideMaster" Target="/ppt/slideMasters/slideMaster1.xml" Id="Rf82a874b6fe44aa6" /><Relationship Type="http://schemas.openxmlformats.org/officeDocument/2006/relationships/notesMaster" Target="/ppt/notesMasters/notesMaster1.xml" Id="Rc2318bb9a5c342fd" /><Relationship Type="http://schemas.openxmlformats.org/officeDocument/2006/relationships/presProps" Target="/ppt/presProps.xml" Id="R88cff558d1af4b96" /><Relationship Type="http://schemas.openxmlformats.org/officeDocument/2006/relationships/tableStyles" Target="/ppt/tableStyles.xml" Id="R9f0012a392db48bc" /><Relationship Type="http://schemas.openxmlformats.org/officeDocument/2006/relationships/slide" Target="/ppt/slides/slide1.xml" Id="R7f3ca3d001094d88" /><Relationship Type="http://schemas.openxmlformats.org/officeDocument/2006/relationships/slide" Target="/ppt/slides/slide2.xml" Id="Rb9290e284e374005" /><Relationship Type="http://schemas.openxmlformats.org/officeDocument/2006/relationships/slide" Target="/ppt/slides/slide3.xml" Id="R2a493d0b548243c5" /><Relationship Type="http://schemas.openxmlformats.org/officeDocument/2006/relationships/slide" Target="/ppt/slides/slide4.xml" Id="Rdf7f3d04d32a4c87" /><Relationship Type="http://schemas.openxmlformats.org/officeDocument/2006/relationships/slide" Target="/ppt/slides/slide5.xml" Id="R1a49c2d48cf045a9" /><Relationship Type="http://schemas.openxmlformats.org/officeDocument/2006/relationships/slide" Target="/ppt/slides/slide6.xml" Id="R7032cb7b42484a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30b4d88e244a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4a161171db4d4c" /><Relationship Type="http://schemas.openxmlformats.org/officeDocument/2006/relationships/notesMaster" Target="/ppt/notesMasters/notesMaster1.xml" Id="R99df34d4ab2043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4cd8ca5d3f4e97" /><Relationship Type="http://schemas.openxmlformats.org/officeDocument/2006/relationships/notesMaster" Target="/ppt/notesMasters/notesMaster1.xml" Id="R99088f35f65d43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b0b65e352345e3" /><Relationship Type="http://schemas.openxmlformats.org/officeDocument/2006/relationships/notesMaster" Target="/ppt/notesMasters/notesMaster1.xml" Id="R2fc334ac1a8e4c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5407493a6a4291" /><Relationship Type="http://schemas.openxmlformats.org/officeDocument/2006/relationships/notesMaster" Target="/ppt/notesMasters/notesMaster1.xml" Id="R89fbe828569e4e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8fed32b42944fc" /><Relationship Type="http://schemas.openxmlformats.org/officeDocument/2006/relationships/notesMaster" Target="/ppt/notesMasters/notesMaster1.xml" Id="R9c0b8837be1441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ad6c54c77748bb" /><Relationship Type="http://schemas.openxmlformats.org/officeDocument/2006/relationships/notesMaster" Target="/ppt/notesMasters/notesMaster1.xml" Id="R652369d8c7a8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Deck setup. Establish that the current product is already substantial and the decision is about delivery route, not whether a platform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Current-state slide. Show that the major business capability areas are already integrated in one codebase and that the stack is modern Laravel, not a blank slate.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Approach A is the incremental path. Stress reuse, phased rollout, and the need to harden security before turning current workflows into public or partner-facing APIs.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Approach B is possible but disruptive. Use this slide to make the rewrite cost concrete: rules, workflows, files, auth, and admin operations all have to be rebuilt and migrated.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slide. The recommendation direction should be obvious by the end: API-enable now unless a framework change is already a mandated business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slide. Lead with the decision, then make the next actions and guardrails explicit so the audience understands what happens immediately after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4dbd019cd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3107f7f7084821" /><Relationship Type="http://schemas.openxmlformats.org/officeDocument/2006/relationships/slideLayout" Target="/ppt/slideLayouts/slideLayout1.xml" Id="Ra32e9eb5b2ea45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2e9eb5b2ea45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c819923934396" /><Relationship Type="http://schemas.openxmlformats.org/officeDocument/2006/relationships/notesSlide" Target="/ppt/notesSlides/notesSlide1.xml" Id="R35ab0e02ad4049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37b76c9394ac0" /><Relationship Type="http://schemas.openxmlformats.org/officeDocument/2006/relationships/notesSlide" Target="/ppt/notesSlides/notesSlide2.xml" Id="R0cb8aece288c47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d788b64f5459b" /><Relationship Type="http://schemas.openxmlformats.org/officeDocument/2006/relationships/notesSlide" Target="/ppt/notesSlides/notesSlide3.xml" Id="Rce999609fcb54f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1e5315cca4b08" /><Relationship Type="http://schemas.openxmlformats.org/officeDocument/2006/relationships/notesSlide" Target="/ppt/notesSlides/notesSlide4.xml" Id="R726278783dcc47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2ab63d5f143b3" /><Relationship Type="http://schemas.openxmlformats.org/officeDocument/2006/relationships/notesSlide" Target="/ppt/notesSlides/notesSlide5.xml" Id="R510425bd117a47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ef15b0d974452" /><Relationship Type="http://schemas.openxmlformats.org/officeDocument/2006/relationships/notesSlide" Target="/ppt/notesSlides/notesSlide6.xml" Id="R22451962ad854d4e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5F2EA"/>
            </a:gs>
            <a:gs pos="56000">
              <a:srgbClr val="FFFFFF"/>
            </a:gs>
            <a:gs pos="100000">
              <a:srgbClr val="E8F0F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43F71-3440-4C8E-9915-F65A513E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C2C89-9D27-491E-BC12-A6001A80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43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Decision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57C6E-3FA1-4B84-B42B-5E054804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905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32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LW Registry: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API route vs alternate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ED049-02EC-427E-BC4C-9C4ADC46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71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simple view of what the platform already does, how the system flows today, and the two realistic paths forward.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B2B9D-7B7B-427B-9793-8AD24041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6000"/>
              </a:lnSpc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Approach A: keep Laravel as the core and expose APIs in phases.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Approach B: rebuild the backend in CI4 or another stack and migrate across.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8753A-453A-4274-B4F6-2A389F5D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704850"/>
            <a:ext cx="4229100" cy="53911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ADACD-2F78-4BB8-ADA1-527D9347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Live system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13B16-4664-4DE0-8CEC-B16BB8A0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192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31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Three role journeys already share one platform, one database, and one operating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C66ED-6D3C-4BC9-96C6-C42FAA84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47850"/>
            <a:ext cx="36957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077AE-4641-497E-AF17-4E2F9E0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F4EF6-08EA-42DA-935C-03D44CAE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66925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43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F0B10-B2E6-40D9-9317-8B31A627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1374"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Search directory</a:t>
            </a:r>
          </a:p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Verify SBO number</a:t>
            </a:r>
          </a:p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profiles and adverts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128E3-BDA6-44E9-BE5D-155382ED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3695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F1335-B364-4334-94E6-07FBB4AF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69A27-7A65-43B6-A1B8-B950F367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86125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43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SBO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69907-588E-4534-9B66-AA259AF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1374"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Join and register</a:t>
            </a:r>
          </a:p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Upload documents and pay</a:t>
            </a:r>
          </a:p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Post RFQs and track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04233-8BAA-4558-B99F-17BAEEEF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00550"/>
            <a:ext cx="36957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9DDB8-D3DF-4C7B-BDE4-E9F45E5F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67362-0188-4484-A4CC-F90CF025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19625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43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88A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8A1B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11C2C-AA25-4AAB-8ABF-165E138F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3395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1374"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Review and approve</a:t>
            </a:r>
          </a:p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Manage procurement and support</a:t>
            </a:r>
          </a:p>
          <a:p xmlns:a="http://schemas.openxmlformats.org/drawingml/2006/main">
            <a:pPr marL="18" indent="-10" algn="l">
              <a:lnSpc>
                <a:spcPct val="114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Control ads, reports, and users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5E1BA-168A-40B7-A53A-2C2FE67F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EAB38-6FB7-493F-B094-1D40486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Sources: PRODUCT.md, DESIGN.md, docs/platform-architecture.md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A50C7-504A-4456-B622-81756DB2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00800"/>
            <a:ext cx="117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571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14B58-2271-486A-89B5-F24D2C68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One web app already runs the whole registry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C8F7C-ADD5-4E73-BA0C-2E09EF85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Public discovery, SBO onboarding, payments, procurement, support, and admin operations are already connected.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B526F-1089-44BD-BED0-9A62A7CB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3C244-E1FC-4C81-850E-93E90C4C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57325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43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6A22B-B07B-4275-A386-91476F20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906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75D70-D80A-4758-962B-A6A7DB5A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573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43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SBO 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39A02-E3FC-4D93-9A26-E90FE5DF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90650"/>
            <a:ext cx="1085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F612F-3B11-4388-B22A-D01D7688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5732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43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88A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8A1B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8D40F-020A-44BB-8895-0C2C8615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19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0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Shared system flow: web app -&gt; database -&gt; media storage -&gt; queue and 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1DADB-FCD0-437F-8F03-1C7880A3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24650" cy="4133850"/>
          </a:xfrm>
          <a:prstGeom xmlns:a="http://schemas.openxmlformats.org/drawingml/2006/main" prst="roundRect">
            <a:avLst>
              <a:gd name="adj" fmla="val 3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3DD8E-ED16-4E59-AB9E-90C4BA69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Core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1E7D4-248E-44E1-904D-96AF8485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30480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960F9-24B1-4828-86EB-5D1B53B6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Public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24336-B181-4936-AD70-6683F817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270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762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Home and search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Business directory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Business profile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SBO verification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Ads and click tracking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29B7B-80EF-4105-9082-AE55E0DD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30480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4AE4D-C2C0-4AF5-9560-6A960341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955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SBO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170D2-A414-45FF-AC3C-40890A49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270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762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Join form and auth modal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Application progress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Compliance documents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Fees and proof of payment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Final verification and seal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B715C-7920-4F99-870F-EBEC6433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3048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0DF2E-C83B-41B0-8142-9AEABE2D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Marketplace and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63E87-B91E-4E6D-B70E-ED805D71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2705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8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RFQs and bids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Vendor discovery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Award and completion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Support enquiries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Feedback submission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EA38D-BD09-42A0-924B-983F7AEE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3048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88A27-5675-469E-B4C2-B1AB0C16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Admin 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BC476-E5E8-4137-9BA4-47C88EEE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43400"/>
            <a:ext cx="2705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8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Users and admins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SBO approvals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Fees and compliance docs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Reports and activity logs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Ads and categories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8232B-B599-40C5-9B61-5F2E388F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848100" cy="41338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A19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69136-94B0-4B52-BC50-A2EC46E7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FD4A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D4A7"/>
                </a:solidFill>
                <a:latin typeface="Aptos"/>
                <a:ea typeface="Aptos"/>
                <a:cs typeface="Aptos"/>
              </a:rPr>
              <a:t>Stack and connection 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49E4B-D3FC-460A-9201-78935FC5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352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B4985-D615-403D-9017-1E6F62E9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104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1DBF3F-F2C2-4F6B-88A5-632D5749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19375"/>
            <a:ext cx="819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420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252989-C018-41A1-BA20-B15A2D09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747"/>
                </a:solidFill>
                <a:latin typeface="Aptos"/>
                <a:ea typeface="Aptos"/>
                <a:cs typeface="Aptos"/>
              </a:rPr>
              <a:t>PHP 8.4 + Laravel 12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747"/>
                </a:solidFill>
                <a:latin typeface="Aptos"/>
                <a:ea typeface="Aptos"/>
                <a:cs typeface="Aptos"/>
              </a:rPr>
              <a:t>Livewire + Volt + Flux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6BC112-C279-4F1C-81CC-911AF147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3352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F695FE-F436-4C6B-B8CE-D11417F7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104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14498-146C-4AC1-ACC1-C3FDD905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819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420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CB1A2-933F-4214-B76C-E477605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747"/>
                </a:solidFill>
                <a:latin typeface="Aptos"/>
                <a:ea typeface="Aptos"/>
                <a:cs typeface="Aptos"/>
              </a:rPr>
              <a:t>Blade views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747"/>
                </a:solidFill>
                <a:latin typeface="Aptos"/>
                <a:ea typeface="Aptos"/>
                <a:cs typeface="Aptos"/>
              </a:rPr>
              <a:t>Tailwind CSS 4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747"/>
                </a:solidFill>
                <a:latin typeface="Aptos"/>
                <a:ea typeface="Aptos"/>
                <a:cs typeface="Aptos"/>
              </a:rPr>
              <a:t>DaisyUI + Vite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10CB5E-51DC-425E-93A7-FDF05BD9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3352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324092-9B32-428B-8AE3-ABC92134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104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A3BDC-A036-4514-8DB3-92E19BDF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819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420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Platform services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DFF82A-848B-42C6-B2FB-55C77D3B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3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747"/>
                </a:solidFill>
                <a:latin typeface="Aptos"/>
                <a:ea typeface="Aptos"/>
                <a:cs typeface="Aptos"/>
              </a:rPr>
              <a:t>Reverb and Echo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747"/>
                </a:solidFill>
                <a:latin typeface="Aptos"/>
                <a:ea typeface="Aptos"/>
                <a:cs typeface="Aptos"/>
              </a:rPr>
              <a:t>Spatie Media Library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747"/>
                </a:solidFill>
                <a:latin typeface="Aptos"/>
                <a:ea typeface="Aptos"/>
                <a:cs typeface="Aptos"/>
              </a:rPr>
              <a:t>Queue + SMTP / Mailgun / Resend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25E3DE-8C90-4560-849F-A854BF7E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37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Meaning: the platform is not just pages. It already contains reusable domain rules, stored data, uploaded files, and staff operating workflows.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284EDB-02A4-45BF-8605-E246F73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DBD9CD-4D28-4F03-9B39-2EDE5EC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Sources: docs/platform-architecture.md, composer.json, package.json, routes/web.php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8B4E70-6808-41BD-B278-7007D7A0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00800"/>
            <a:ext cx="117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8558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46D5F-0C4D-4F1A-B54E-F6C8EC1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43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Approach A: add versioned APIs around the current Laravel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44D48-2BF6-4309-85F5-1551C8FD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18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This keeps the existing web product in place and exposes module-by-module endpoints for mobile apps, partner systems, or new frontends.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55248-1645-4E49-8E33-3C6DFE71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8A6C3-D82D-4891-8DD4-1AE14829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Clients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D1913-B513-40A4-8F42-6A581313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626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Current web UI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Future mobile app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Partner systems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Internal admin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046C1-7B31-45D3-BFBE-175A5B7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04950"/>
            <a:ext cx="274320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8E7FC-D3A3-4606-BC1D-DFE75CF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573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API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E1CBF-B8C2-422C-AAB3-283F3982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62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626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/api/v1/public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/auth and /me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/sbos and /payments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/rfqs, /network, /admin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B4519-6F22-4AB6-BD39-6BD6B33B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04950"/>
            <a:ext cx="539115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B833E-C5DC-47A3-8452-12287BBA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Current domain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8C658-C57D-4EDE-8EE8-2D03FAD4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Controllers, models, services, policies, queues, media, and the existing database remain the source of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F75FA-EA0D-488D-B592-CDC41132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914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3FA37-36FB-4B01-B978-39187F35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64353-06A5-4612-B5C7-7E67AE9F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32478-CFB5-49AD-9530-489CE890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Start with public read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2124A-A8C2-4437-B022-D92BCC90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53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Directory, categories, business profile, advert slots, and public SBO verification.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1DF1C-D616-41FA-A138-5E1CA29D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914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B34F5-7026-4BDD-87BB-EE0B12E7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5BF48-91C9-4747-9792-7AB3E4C0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314B6-64D7-473C-A90A-56DB060A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4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Add account and self-service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7CC29-046D-4D3F-A8FB-44E0E952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53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Login, me, notifications, dashboard summaries, and user-owned assets.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9A1F6-FBBB-422D-A9CC-7805702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914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790E1-234E-416F-8FFD-B66DC4C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95993-3F6D-4C24-976F-3010BCA2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16EE21-96BC-4B40-B37B-F06E9DC7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63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Expose SBO application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4E263-BF06-4B52-99B2-13B34D3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53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Progress, fee quote, Espees start, payment proofs, compliance requirements, and seal download.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88EEB-0799-431A-BE73-F273B1B3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95600"/>
            <a:ext cx="2914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3BE6B-ADEA-4026-8524-1F8E79F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48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64D14-6CC4-44B7-8C5A-BFDC42F8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57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577C7C-FE04-4A42-87A5-4B3D7B51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2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Move procurement and approvals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3A758-4CB2-4490-B524-35504DA2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53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RFQs, bids, awards, support inboxes, payment approvals, and admin workflow actions.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1CD10C-5345-4A0E-891B-31E64D5E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2914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97E847-4914-4658-A955-70EEC5E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43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11264D-0FB7-43EC-AA90-1CEAFB39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52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9E0362-A212-4AE7-810A-8A26F2A6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24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Finish with growth modules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E25006-2687-476B-AB94-37652561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91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53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Ad campaigns, SBO network messaging, reports, and real-time notification surfaces.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31CD8D-508D-4C22-93A4-973DF55F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44577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A19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087036-E356-4D4A-89B8-27876397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63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FD4A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D4A7"/>
                </a:solidFill>
                <a:latin typeface="Aptos"/>
                <a:ea typeface="Aptos"/>
                <a:cs typeface="Aptos"/>
              </a:rPr>
              <a:t>Direct reuse from existing code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136F9E-9217-4489-9339-6FA53A1F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29000"/>
            <a:ext cx="3943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7897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 directory and verification: BusinessController, SboVerificationController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SBO rules: SboApplicationProgress, SboComplianceRequirements, SboFeeCalculator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Payments and procurement: SboEspeesPaymentController, AdCampaignPaymentController, PurchaseOrder, PurchaseOrderBid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 and admin policies: AdminCapabilities, existing route middleware, notifications, queues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65660A-2B82-406F-B420-4A8B6200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62500"/>
            <a:ext cx="39433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8E6E4"/>
          </a:solidFill>
          <a:ln xmlns:a="http://schemas.openxmlformats.org/drawingml/2006/main" w="9525">
            <a:solidFill>
              <a:srgbClr val="A43A3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6DE385-20EB-4733-AE55-F2CECD90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958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628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A43A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43A35"/>
                </a:solidFill>
                <a:latin typeface="Aptos"/>
                <a:ea typeface="Aptos"/>
                <a:cs typeface="Aptos"/>
              </a:rPr>
              <a:t>Important gate: fix the current approval, auth, and XSS issues before broad API exposure.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D6D59F-D39C-4DAF-9752-6ACC8F0D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3DD58C-47A1-4B6C-BED1-22D3E8A1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Sources: routes/web.php, docs/platform-architecture.md, app domain scan, security review notes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32118E-8B0B-4B86-B10A-16DB82F9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00800"/>
            <a:ext cx="117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1081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24ED7-DF61-4BB1-B2BB-743A7E88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Approach B: rebuild in CI4 or another backend in parallel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2EC28-1D71-40D9-BD57-0DE9B72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62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This route creates a new backend while the current Laravel app keeps running, then migrates data and workflow ownership over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38B2A-923B-4E08-9916-73C3F7A5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956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A0981-AF10-4350-9027-0A2FD15E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Current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C64B0-097C-4692-8FED-891495B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Existing UI, Livewire flows, current database, uploaded files, notifications, and admin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BE812-3F0A-4E0E-94F8-9AE74619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28956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8289B-4209-44CE-A266-C898C379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Migration bridge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B4E81-3E9E-4C19-8C2A-659EE4B0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Schema mapping, file migration, authentication alignment, dual-run checks, and cutover planning.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B3F60-86AC-4E44-9ED4-167A5977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28956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6F6AB-C502-40DE-8ED8-29C6B6EE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New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E73FE-F98F-4D6E-8475-E1C3EADE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CI4 or another stack with rewritten controllers, models, validation, auth, jobs, and API contracts.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068C2-34C2-4E5D-9CDA-7A169A96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06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88A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88A1B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4E3AE-4138-4B3D-97D2-D2F4469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145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06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D7A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7A55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933B8-DB20-4089-A57E-62846E6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5908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199DF-0AD6-4825-97FB-A4DB7800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What you gain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C8AAC-23A8-4399-B173-9983CAD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 clean separation point, fresh architectural choices, and a backend shaped for APIs from day 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2EB32-B5DD-410B-93C9-BA3EBBEC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25908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A09EF-1960-4C21-915E-F72F066B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What must be rebuilt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4B383-00A2-48FA-B066-036B091D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Auth, forms, approval rules, uploads, payment logic, notifications, procurement rules, and admin tools all need new implementations.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56933-9871-41BE-A4B1-BEC18ED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25908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6547B-E3F0-4892-81BC-478FEFE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Migration pressure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BBFAD-0D22-4869-98BB-072E015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You need field-by-field schema mapping, media transfer, parity testing, and a controlled cutover to avoid operational breakage.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410DB-E7C9-4692-8C45-5F15647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52800"/>
            <a:ext cx="25908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BF0D6-A4E3-48E0-9605-2DC569B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When it makes sense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BD1C3-F5D2-4801-BFB2-37A56CC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Only when a framework change is already a strategic mandate and the team accepts a longer, higher-risk parallel rewrite.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1F52BA-BEC6-4CA2-A324-B0903B20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E6E4"/>
          </a:solidFill>
          <a:ln xmlns:a="http://schemas.openxmlformats.org/drawingml/2006/main" w="9525">
            <a:solidFill>
              <a:srgbClr val="A43A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159496-667D-4CB2-B9A5-2B97D6B8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77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A43A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43A35"/>
                </a:solidFill>
                <a:latin typeface="Aptos"/>
                <a:ea typeface="Aptos"/>
                <a:cs typeface="Aptos"/>
              </a:rPr>
              <a:t>Key caution: the UI can be recreated, but the current Livewire behavior, business rules, and operational edge cases do not convert automatically. They must be rewritten and re-tested.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9D304-8FDE-4F2D-B4E6-E9B898A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B4889-6838-4CEC-9EEA-BCD4F83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Sources: docs/platform-architecture.md, routes/web.php, app domain scan, security review notes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72BAF7-3730-4022-A06F-438388C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00800"/>
            <a:ext cx="117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3596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9BC68-3ED5-48E3-B6E7-8B8CF5B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Direct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04E83-CA62-4518-87DF-7C3C02D7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choice is mostly between incremental reuse now and strategic framework freedom later.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7E619-4264-4929-8BB3-3702FA1F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15E50-0AF2-411D-BFD7-E8A8FC80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Decision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86041-D0AE-472E-8D41-FD510C0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76400"/>
            <a:ext cx="36957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7A55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D24FE-B4D8-49F7-8836-A79159AB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71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Approach A: API-enable Laravel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6C546-6E26-4016-84C3-8C9A790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38481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88A1B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4E51C-E036-4D2E-87AC-D4633A6A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716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Approach B: parallel rebuild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9E14D-9D0C-424C-BA05-53614B41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04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F28D7-565B-4F3C-8762-67B5D141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Existing UI and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7FF16-BD9E-4376-90F5-B1A8774D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36957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343B1-03B3-48A4-B0E4-05D6A4E7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19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43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Keep the current web product and expose new interfaces around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5E050-B398-44DA-9E25-5FEADDB4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38481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3377D-83BE-4998-B191-37E3C153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193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71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UI and assets can be referenced, but screens and interactions still need recreation.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E1641-43E1-426A-A4DB-3206685C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04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8E629-E27D-443E-8E79-C8B4F8B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Business rule reuse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42DD5-4396-4A69-9702-C47037AE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6957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ED969-A098-4D4B-9AE4-1C891919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14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799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High reuse from existing models, services, middleware, and controllers.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65F17-9090-45A6-901A-DBD1063E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19400"/>
            <a:ext cx="38481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EBDD2-ABC4-40F5-9547-1EE33FB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60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Low direct reuse. Most logic must be rewritten in the new framework.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C7DCF-A002-4350-9A0D-FFF1A05E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04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E3682-7824-48BC-84BD-80F34085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Delivery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82EFF-5885-4463-A1EB-8D7D0BA1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14700"/>
            <a:ext cx="36957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85FD9-0CC0-4A67-AF26-76867A04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09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10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Lower. Changes can ship by module without pausing the live platform.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B7E10-799C-46E0-B185-165671D9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14700"/>
            <a:ext cx="38481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5D724-F509-4224-B2D7-BED47716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99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Higher. Two systems must stay aligned until cutover.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3C3E7-48F8-4720-B868-6DD2E0BD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88F06-3FFC-4C77-903E-7162CC0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Data migration 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1745A-959C-4E3F-85D8-BC696DF6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10000"/>
            <a:ext cx="36957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DE576-74F8-46A2-9C90-94551BAE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05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81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Low to medium. Same database can remain authoritative at first.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C5F2A-6D3D-4825-B792-4D20AD3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0000"/>
            <a:ext cx="38481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4526F8-72E9-457B-882B-AF09CC37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784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High. Schema mapping, sync, and file migration become part of the project.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3EA3E-9346-4283-BA0F-3898E302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04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D9903-C391-4C22-A687-2A169225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Security cleanup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77ECDF-922F-4506-B64B-7883BE8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05300"/>
            <a:ext cx="36957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800484-BE22-4DE8-B38C-7C76ECA6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00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Fix the current weaknesses once, then expose the safer core by API.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29FFA5-9421-449B-B327-0368A09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05300"/>
            <a:ext cx="38481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279EEE-EC2A-4638-B9F3-B8EC35D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005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738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Still required. A rewrite does not remove the need to correct the underlying rules.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DF8976-E9DB-43C0-8DD2-248641F7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04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21689B-328D-4B07-8C15-C83BC268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Mobile or partner readiness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9B9B89-49C7-47F9-A084-6127D5D7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00600"/>
            <a:ext cx="36957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B0C14C-83EF-4414-8485-41385ADD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95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Strong once /api/v1 is phased in.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F634FF-1723-4D69-AF69-8D697D8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38481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C499A3-A5B1-4606-94B2-0556326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958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24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Strong eventually, but only after the new backend reaches feature parity.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9028FD-EC90-4321-ABEC-8DCDB52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04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44BD02-2440-470B-A1C3-0CD3B2E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Operational continuity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B8CB93-1C82-44C7-BB5E-AC9F176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95900"/>
            <a:ext cx="36957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A6513F-F7BC-4796-9EDA-45C5E1E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91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teams keep using the same system during rollout.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F43390-2D27-46E5-9D16-1C1F8CF1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95900"/>
            <a:ext cx="38481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206707-93D8-4470-8298-603BD4C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911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44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Ops teams may need to straddle old and new tooling during transition.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F11C93-7A16-4B8A-A769-7982F4DF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304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C9A80A-4D2A-44CF-A330-20F4BB67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Long-term framework freedom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416944-FE30-4ABC-A81A-04D771BA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91200"/>
            <a:ext cx="36957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508CD4-29AE-4A2C-B3CF-153AEDB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86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Moderate. You still live with Laravel as the main core.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1EBD99-3EF3-4E1F-BD26-C35AFCE6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91200"/>
            <a:ext cx="38481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890151-411C-4D93-B7CB-D53C617A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864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High. You can standardize on CI4 or another chosen stack.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D1662E-B50D-4EE7-9922-3FB27824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C8A791-E894-4F8F-A961-C4DE1660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1FFDE7-D041-4325-AE2D-FED44808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Sources: routes/web.php, app domain scan, docs/platform-architecture.md, security review notes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837992-AA42-4CED-8143-420CEB05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00800"/>
            <a:ext cx="117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3398474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F2747"/>
            </a:gs>
            <a:gs pos="100000">
              <a:srgbClr val="0A1930"/>
            </a:gs>
          </a:gsLst>
          <a:lin ang="96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36D65A-55F3-4E95-96CD-D91F09A4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62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ACBE7-B95D-496B-B441-FF119849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4375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Recommended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46BCC-5016-4BAD-ADEF-1374A40F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00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779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Choose Approach A now.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Stabilize the Laravel core, then expose APIs in phases.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73DDD-86F9-4E9D-9F4F-BF77DDD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81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DDE7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DE7F4"/>
                </a:solidFill>
                <a:latin typeface="Aptos"/>
                <a:ea typeface="Aptos"/>
                <a:cs typeface="Aptos"/>
              </a:rPr>
              <a:t>A rebuild should come later only if the organization decides that framework standardization matters more than short-term reuse, continuity, and risk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6CA2F-46A7-4231-9332-6AFB475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9055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7F519-38F7-4E9E-AB9F-8A1233B5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D7A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7A55"/>
                </a:solidFill>
                <a:latin typeface="Aptos"/>
                <a:ea typeface="Aptos"/>
                <a:cs typeface="Aptos"/>
              </a:rPr>
              <a:t>Next moves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DADC8-7D3A-4205-ACFE-3505FA30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539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D9D76-6FDD-4432-9FAC-3367DF3F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43EA8-AA15-41CD-9F8F-D8FF77C8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C5B9E-654A-474A-85F3-1C03CD5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Fix the current approval, auth, and XSS vulnerabilities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DFA2D-EA82-4CAF-AC97-D8684E0B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539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0670A-50D8-4267-ACEF-3CCB66D9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173E0-A2FF-4361-8AAD-C220F3D9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5485F-5186-453E-B351-62017F95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434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Introduce API auth and a versioned /api/v1 structure.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91FE9-8CF6-4740-95FD-C3115088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539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F2EEA-C0C9-42CA-8D2B-B29C2DEE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3F916-90B1-4B4C-A346-EC9AFD58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2DB49-160C-4AE9-B255-5C8A8CB8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Expose public read modules before write-heavy workflows.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144AB-F590-4822-9C7F-127F1E22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539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D1B96-5E51-4A2B-9122-9F290CB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77A48-2F98-4AE1-81C3-8313DDE4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396F0-B19C-4C18-84C1-50E8612F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911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Move SBO, payments, procurement, and admin actions in controlled phases.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30927-ECA1-4E25-9D44-18E2764B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539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6C44E-084E-477C-98CD-16AB0F31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707B5-DEDA-4904-8D53-0B8134F5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71258-B7C9-4332-B189-9757E7F1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1497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Reassess CI4 or another replatform only after the domain layer is stable.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2E5A0-C6A2-4E69-B629-4DE95E74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95350"/>
            <a:ext cx="4591050" cy="4972050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3DE91-3F78-4BD9-B225-8B7697DA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43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Suggested API rollout 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5522C-27BB-4EC1-ABDD-5F8EDC4D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24000"/>
            <a:ext cx="40957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556168-A4AE-47ED-88B7-E2136CDA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1. Public directory and verification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5A8ED5-BECD-4C6E-B5BB-6BFD79CB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09800"/>
            <a:ext cx="40957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1F24D-B0C1-4C06-B7EE-2C1A201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622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2. Auth, /me, and notifications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C688C5-F04F-4669-9DBE-3606388E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40957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779FC2-CA95-4EE1-9F24-C5A3F46D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3. SBO applications, fees, and compliance documents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A1E055-AFCF-45AC-8345-8F52A29E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81400"/>
            <a:ext cx="40957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588C65-A50C-48B0-9135-D00B059A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4. RFQs, bids, support, and admin approvals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0DCC9-F2B6-429C-ACD0-BD39D29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40957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44555F-8FB3-44DC-A8A5-54EE278B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5. Ads, network messaging, and real-time events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DBF850-259C-4C9C-907D-643B63E5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67300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8E6E4"/>
          </a:solidFill>
          <a:ln xmlns:a="http://schemas.openxmlformats.org/drawingml/2006/main" w="9525">
            <a:solidFill>
              <a:srgbClr val="A43A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DE7C79-2CFE-4BB6-991E-D6040DA9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0175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617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A43A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43A35"/>
                </a:solidFill>
                <a:latin typeface="Aptos"/>
                <a:ea typeface="Aptos"/>
                <a:cs typeface="Aptos"/>
              </a:rPr>
              <a:t>Decision guardrail: do not publish broad write APIs until the current security issues are closed.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0B632B-398F-49DC-9CEC-4B06A1A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0BA"/>
          </a:solidFill>
          <a:ln xmlns:a="http://schemas.openxmlformats.org/drawingml/2006/main" w="0">
            <a:solidFill>
              <a:srgbClr val="8DA0B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9FB294-D6BB-4543-9B7A-4F447ED7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DDE7F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7F4"/>
                </a:solidFill>
                <a:latin typeface="Aptos"/>
                <a:ea typeface="Aptos"/>
                <a:cs typeface="Aptos"/>
              </a:rPr>
              <a:t>Sources: app domain scan, security review notes, routes/web.php, docs/platform-architecture.md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2A39B5-52BF-42B9-8308-F23537EB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00800"/>
            <a:ext cx="117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2131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2026-07-13T14:48:23.2250000Z</dcterms:created>
  <dcterms:modified xsi:type="dcterms:W3CDTF">2026-07-13T14:48:23.2250000Z</dcterms:modified>
</coreProperties>
</file>